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6404B1-851B-69D5-F3D8-F2CDE324B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866044"/>
            <a:ext cx="8991600" cy="1645920"/>
          </a:xfrm>
        </p:spPr>
        <p:txBody>
          <a:bodyPr/>
          <a:lstStyle/>
          <a:p>
            <a:r>
              <a:rPr lang="es-ES" dirty="0"/>
              <a:t>Guía de Arquitectura de Aplicaciones en </a:t>
            </a:r>
            <a:r>
              <a:rPr lang="es-ES" dirty="0" err="1"/>
              <a:t>Flutter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4C12C6-F602-D09E-E9C3-4BF225802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4149344"/>
            <a:ext cx="6801612" cy="1239894"/>
          </a:xfrm>
        </p:spPr>
        <p:txBody>
          <a:bodyPr>
            <a:normAutofit/>
          </a:bodyPr>
          <a:lstStyle/>
          <a:p>
            <a:r>
              <a:rPr lang="es-CO" sz="2400" b="1" dirty="0"/>
              <a:t>Justine Barreto Angarita</a:t>
            </a:r>
          </a:p>
          <a:p>
            <a:r>
              <a:rPr lang="es-CO" sz="2400" b="1" dirty="0"/>
              <a:t>Andrés Evertsz Hernández</a:t>
            </a:r>
          </a:p>
        </p:txBody>
      </p:sp>
    </p:spTree>
    <p:extLst>
      <p:ext uri="{BB962C8B-B14F-4D97-AF65-F5344CB8AC3E}">
        <p14:creationId xmlns:p14="http://schemas.microsoft.com/office/powerpoint/2010/main" val="200147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64970EB-18C0-E467-6846-C9C8287D1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738" y="325967"/>
            <a:ext cx="3763433" cy="1728044"/>
          </a:xfrm>
          <a:noFill/>
          <a:ln>
            <a:solidFill>
              <a:schemeClr val="bg1"/>
            </a:solidFill>
          </a:ln>
        </p:spPr>
        <p:txBody>
          <a:bodyPr vert="horz" wrap="square" lIns="182880" tIns="182880" rIns="182880" bIns="182880" rtlCol="0" anchor="ctr"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ARQUITECTURA DE UNA APP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70A9A5-5FF7-5EE1-77D3-2D9D3C3A0DBA}"/>
              </a:ext>
            </a:extLst>
          </p:cNvPr>
          <p:cNvSpPr txBox="1"/>
          <p:nvPr/>
        </p:nvSpPr>
        <p:spPr>
          <a:xfrm>
            <a:off x="643468" y="2638044"/>
            <a:ext cx="3363974" cy="3415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algn="just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Define </a:t>
            </a:r>
            <a:r>
              <a:rPr lang="en-US" sz="1500" dirty="0" err="1">
                <a:solidFill>
                  <a:schemeClr val="bg1"/>
                </a:solidFill>
              </a:rPr>
              <a:t>cómo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está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estructurada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una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aplicación</a:t>
            </a:r>
            <a:r>
              <a:rPr lang="en-US" sz="1500" dirty="0">
                <a:solidFill>
                  <a:schemeClr val="bg1"/>
                </a:solidFill>
              </a:rPr>
              <a:t>.</a:t>
            </a:r>
          </a:p>
          <a:p>
            <a:pPr indent="-228600" algn="just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</a:endParaRPr>
          </a:p>
          <a:p>
            <a:pPr marL="285750" indent="-228600" algn="just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La UI layer, </a:t>
            </a:r>
            <a:r>
              <a:rPr lang="en-US" sz="1500" dirty="0" err="1">
                <a:solidFill>
                  <a:schemeClr val="bg1"/>
                </a:solidFill>
              </a:rPr>
              <a:t>encargada</a:t>
            </a:r>
            <a:r>
              <a:rPr lang="en-US" sz="1500" dirty="0">
                <a:solidFill>
                  <a:schemeClr val="bg1"/>
                </a:solidFill>
              </a:rPr>
              <a:t> de la </a:t>
            </a:r>
            <a:r>
              <a:rPr lang="en-US" sz="1500" dirty="0" err="1">
                <a:solidFill>
                  <a:schemeClr val="bg1"/>
                </a:solidFill>
              </a:rPr>
              <a:t>interfaz</a:t>
            </a:r>
            <a:r>
              <a:rPr lang="en-US" sz="1500" dirty="0">
                <a:solidFill>
                  <a:schemeClr val="bg1"/>
                </a:solidFill>
              </a:rPr>
              <a:t> con </a:t>
            </a:r>
            <a:r>
              <a:rPr lang="en-US" sz="1500" dirty="0" err="1">
                <a:solidFill>
                  <a:schemeClr val="bg1"/>
                </a:solidFill>
              </a:rPr>
              <a:t>el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usuario</a:t>
            </a:r>
            <a:r>
              <a:rPr lang="en-US" sz="1500" dirty="0">
                <a:solidFill>
                  <a:schemeClr val="bg1"/>
                </a:solidFill>
              </a:rPr>
              <a:t>.</a:t>
            </a:r>
          </a:p>
          <a:p>
            <a:pPr indent="-228600" algn="just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</a:endParaRPr>
          </a:p>
          <a:p>
            <a:pPr marL="285750" indent="-228600" algn="just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Data layer, </a:t>
            </a:r>
            <a:r>
              <a:rPr lang="en-US" sz="1500" dirty="0" err="1">
                <a:solidFill>
                  <a:schemeClr val="bg1"/>
                </a:solidFill>
              </a:rPr>
              <a:t>que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gestiona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los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datos</a:t>
            </a:r>
            <a:r>
              <a:rPr lang="en-US" sz="1500" dirty="0">
                <a:solidFill>
                  <a:schemeClr val="bg1"/>
                </a:solidFill>
              </a:rPr>
              <a:t> y la </a:t>
            </a:r>
            <a:r>
              <a:rPr lang="en-US" sz="1500" dirty="0" err="1">
                <a:solidFill>
                  <a:schemeClr val="bg1"/>
                </a:solidFill>
              </a:rPr>
              <a:t>lógica</a:t>
            </a:r>
            <a:r>
              <a:rPr lang="en-US" sz="1500" dirty="0">
                <a:solidFill>
                  <a:schemeClr val="bg1"/>
                </a:solidFill>
              </a:rPr>
              <a:t>.</a:t>
            </a:r>
          </a:p>
          <a:p>
            <a:pPr indent="-228600" algn="just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</a:endParaRPr>
          </a:p>
          <a:p>
            <a:pPr marL="285750" indent="-228600" algn="just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Una Domain layer </a:t>
            </a:r>
            <a:r>
              <a:rPr lang="en-US" sz="1500" dirty="0" err="1">
                <a:solidFill>
                  <a:schemeClr val="bg1"/>
                </a:solidFill>
              </a:rPr>
              <a:t>opcional</a:t>
            </a:r>
            <a:r>
              <a:rPr lang="en-US" sz="1500" dirty="0">
                <a:solidFill>
                  <a:schemeClr val="bg1"/>
                </a:solidFill>
              </a:rPr>
              <a:t>, </a:t>
            </a:r>
            <a:r>
              <a:rPr lang="en-US" sz="1500" dirty="0" err="1">
                <a:solidFill>
                  <a:schemeClr val="bg1"/>
                </a:solidFill>
              </a:rPr>
              <a:t>que</a:t>
            </a:r>
            <a:r>
              <a:rPr lang="en-US" sz="1500" dirty="0">
                <a:solidFill>
                  <a:schemeClr val="bg1"/>
                </a:solidFill>
              </a:rPr>
              <a:t> se </a:t>
            </a:r>
            <a:r>
              <a:rPr lang="en-US" sz="1500" dirty="0" err="1">
                <a:solidFill>
                  <a:schemeClr val="bg1"/>
                </a:solidFill>
              </a:rPr>
              <a:t>usa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en</a:t>
            </a:r>
            <a:r>
              <a:rPr lang="en-US" sz="1500" dirty="0">
                <a:solidFill>
                  <a:schemeClr val="bg1"/>
                </a:solidFill>
              </a:rPr>
              <a:t> apps </a:t>
            </a:r>
            <a:r>
              <a:rPr lang="en-US" sz="1500" dirty="0" err="1">
                <a:solidFill>
                  <a:schemeClr val="bg1"/>
                </a:solidFill>
              </a:rPr>
              <a:t>más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grandes</a:t>
            </a:r>
            <a:r>
              <a:rPr lang="en-US" sz="1500" dirty="0">
                <a:solidFill>
                  <a:schemeClr val="bg1"/>
                </a:solidFill>
              </a:rPr>
              <a:t>.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</a:endParaRPr>
          </a:p>
        </p:txBody>
      </p:sp>
      <p:pic>
        <p:nvPicPr>
          <p:cNvPr id="1026" name="Picture 2" descr="Diagrama&#10;&#10;El contenido generado por IA puede ser incorrecto.">
            <a:extLst>
              <a:ext uri="{FF2B5EF4-FFF2-40B4-BE49-F238E27FC236}">
                <a16:creationId xmlns:a16="http://schemas.microsoft.com/office/drawing/2014/main" id="{B690B954-0CFB-B133-D4D1-4DDA6E9D1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97763" y="1051409"/>
            <a:ext cx="6250769" cy="4594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6484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7AD7C5BE-418C-4A44-91BF-28E411F75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120" y="1559052"/>
            <a:ext cx="10271760" cy="4347972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7467C9-D7AE-8D04-01FC-F9859FEE4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ln>
            <a:solidFill>
              <a:srgbClr val="404040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b="1" dirty="0"/>
              <a:t>ESTRUCTURA GENERAL DEL PROYECTO</a:t>
            </a:r>
          </a:p>
        </p:txBody>
      </p:sp>
      <p:pic>
        <p:nvPicPr>
          <p:cNvPr id="2050" name="Picture 2" descr="MVVM architectural pattern">
            <a:extLst>
              <a:ext uri="{FF2B5EF4-FFF2-40B4-BE49-F238E27FC236}">
                <a16:creationId xmlns:a16="http://schemas.microsoft.com/office/drawing/2014/main" id="{B9C6423A-3D19-3819-FE56-B0DC6E8CD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44752" y="3074719"/>
            <a:ext cx="9314170" cy="1746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4316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7" name="Rectangle 3083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6" name="Rectangle 3085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CE2D6D9-105C-9EF0-60C4-49E64DC37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071" y="487172"/>
            <a:ext cx="3849625" cy="903478"/>
          </a:xfrm>
        </p:spPr>
        <p:txBody>
          <a:bodyPr vert="horz" lIns="274320" tIns="182880" rIns="274320" bIns="182880" rtlCol="0" anchor="ctr" anchorCtr="1">
            <a:normAutofit fontScale="90000"/>
          </a:bodyPr>
          <a:lstStyle/>
          <a:p>
            <a:r>
              <a:rPr lang="en-US" b="1" dirty="0"/>
              <a:t>EL PATRÓN MVVM</a:t>
            </a:r>
          </a:p>
        </p:txBody>
      </p:sp>
      <p:pic>
        <p:nvPicPr>
          <p:cNvPr id="3074" name="Picture 2" descr="A simplified diagram of the architecture described on this page.">
            <a:extLst>
              <a:ext uri="{FF2B5EF4-FFF2-40B4-BE49-F238E27FC236}">
                <a16:creationId xmlns:a16="http://schemas.microsoft.com/office/drawing/2014/main" id="{2C821AB2-8ECF-28FA-4012-9724F6018F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61220" y="2446938"/>
            <a:ext cx="6871700" cy="1769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78CDDE7-C324-2DBA-49BC-4B3C9AEE978C}"/>
              </a:ext>
            </a:extLst>
          </p:cNvPr>
          <p:cNvSpPr txBox="1"/>
          <p:nvPr/>
        </p:nvSpPr>
        <p:spPr>
          <a:xfrm>
            <a:off x="259080" y="2342118"/>
            <a:ext cx="421767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O" dirty="0" err="1"/>
              <a:t>Model</a:t>
            </a:r>
            <a:r>
              <a:rPr lang="es-CO" dirty="0"/>
              <a:t>-View-</a:t>
            </a:r>
            <a:r>
              <a:rPr lang="es-CO" dirty="0" err="1"/>
              <a:t>ViewModel</a:t>
            </a:r>
            <a:r>
              <a:rPr lang="es-CO" dirty="0"/>
              <a:t>. </a:t>
            </a:r>
          </a:p>
          <a:p>
            <a:pPr algn="just"/>
            <a:endParaRPr lang="es-CO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/>
              <a:t>La </a:t>
            </a:r>
            <a:r>
              <a:rPr lang="es-ES" b="1" dirty="0"/>
              <a:t>View </a:t>
            </a:r>
            <a:r>
              <a:rPr lang="es-ES" dirty="0"/>
              <a:t>muestra la información al usuario.</a:t>
            </a:r>
          </a:p>
          <a:p>
            <a:pPr algn="just"/>
            <a:endParaRPr lang="es-E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/>
              <a:t>La</a:t>
            </a:r>
            <a:r>
              <a:rPr lang="es-ES" b="1" dirty="0"/>
              <a:t> </a:t>
            </a:r>
            <a:r>
              <a:rPr lang="es-ES" b="1" dirty="0" err="1"/>
              <a:t>ViewModel</a:t>
            </a:r>
            <a:r>
              <a:rPr lang="es-ES" b="1" dirty="0"/>
              <a:t> </a:t>
            </a:r>
            <a:r>
              <a:rPr lang="es-ES" dirty="0"/>
              <a:t>contiene la lógica de la interfaz. </a:t>
            </a:r>
          </a:p>
          <a:p>
            <a:pPr algn="just"/>
            <a:endParaRPr lang="es-E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b="1" dirty="0" err="1"/>
              <a:t>Model</a:t>
            </a:r>
            <a:r>
              <a:rPr lang="es-ES" dirty="0"/>
              <a:t> representa los datos, que en </a:t>
            </a:r>
            <a:r>
              <a:rPr lang="es-ES" dirty="0" err="1"/>
              <a:t>Flutter</a:t>
            </a:r>
            <a:r>
              <a:rPr lang="es-ES" dirty="0"/>
              <a:t> se dividen en </a:t>
            </a:r>
            <a:r>
              <a:rPr lang="es-ES" dirty="0" err="1"/>
              <a:t>Repositories</a:t>
            </a:r>
            <a:r>
              <a:rPr lang="es-ES" dirty="0"/>
              <a:t> y </a:t>
            </a:r>
            <a:r>
              <a:rPr lang="es-ES" dirty="0" err="1"/>
              <a:t>Services</a:t>
            </a:r>
            <a:r>
              <a:rPr lang="es-E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14531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C9611-1086-E5ED-AF01-CBA49608A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4476806" cy="1188720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b="1"/>
              <a:t>Capa de interfaz (ui layer)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14232C4-063B-6BEA-238A-917C79FA83DF}"/>
              </a:ext>
            </a:extLst>
          </p:cNvPr>
          <p:cNvSpPr txBox="1"/>
          <p:nvPr/>
        </p:nvSpPr>
        <p:spPr>
          <a:xfrm>
            <a:off x="803244" y="2638044"/>
            <a:ext cx="4492932" cy="3263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 </a:t>
            </a: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UI layer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se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encarga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de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interactuar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con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usuario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  <a:p>
            <a:pPr marL="285750" indent="-228600" algn="just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View: widgets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 Flutter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</a:p>
          <a:p>
            <a:pPr algn="just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encargan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de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mostrar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los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datos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y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reaccionar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eventos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como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clics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o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formularios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No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deben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contener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lógica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compleja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  <a:p>
            <a:pPr marL="285750" indent="-228600" algn="just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ViewModel</a:t>
            </a: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</a:t>
            </a:r>
            <a:r>
              <a:rPr lang="en-US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lógica</a:t>
            </a: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de </a:t>
            </a:r>
            <a:r>
              <a:rPr lang="en-US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presentación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  <a:p>
            <a:pPr algn="just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Recibe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datos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de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los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repositorios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los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transforma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y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los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pasa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 la vista. También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guarda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estado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de la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pantalla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</p:txBody>
      </p:sp>
      <p:sp>
        <p:nvSpPr>
          <p:cNvPr id="4107" name="Rectangle 4102">
            <a:extLst>
              <a:ext uri="{FF2B5EF4-FFF2-40B4-BE49-F238E27FC236}">
                <a16:creationId xmlns:a16="http://schemas.microsoft.com/office/drawing/2014/main" id="{56533F40-045E-4E3D-9243-864CD4E58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43605" y="964692"/>
            <a:ext cx="5440680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08" name="Rectangle 4104">
            <a:extLst>
              <a:ext uri="{FF2B5EF4-FFF2-40B4-BE49-F238E27FC236}">
                <a16:creationId xmlns:a16="http://schemas.microsoft.com/office/drawing/2014/main" id="{30402EC6-D845-41B3-BEBE-CB34D9BFE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0699" y="1128683"/>
            <a:ext cx="5106493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A simplified diagram of the architecture described on this page with the view and view model objects highlighted.">
            <a:extLst>
              <a:ext uri="{FF2B5EF4-FFF2-40B4-BE49-F238E27FC236}">
                <a16:creationId xmlns:a16="http://schemas.microsoft.com/office/drawing/2014/main" id="{89C50306-14D4-9BD6-50ED-D7B26A674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72789" y="2817248"/>
            <a:ext cx="4782312" cy="1231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4849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34289F-D1BA-49B7-73F6-273EA9F40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4476806" cy="1188720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b="1"/>
              <a:t>Capa de datos (data layer)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28FCBA9-0DEC-E904-153D-7C6791F659C2}"/>
              </a:ext>
            </a:extLst>
          </p:cNvPr>
          <p:cNvSpPr txBox="1"/>
          <p:nvPr/>
        </p:nvSpPr>
        <p:spPr>
          <a:xfrm>
            <a:off x="803244" y="2638044"/>
            <a:ext cx="4492932" cy="3263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 </a:t>
            </a: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Data layer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maneja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toda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la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información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y la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lógica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del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negocio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  <a:p>
            <a:pPr marL="285750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Repositories: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Obtienen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información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desde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los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servicios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la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transforman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y la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entregan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lista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 la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ViewModel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Manejan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caché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errores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y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actualizaciones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automáticas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  <a:p>
            <a:pPr marL="285750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Services: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Son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los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que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se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comunican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con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mundo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exterior: APIs, bases de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datos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o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sistema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operativo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Traen o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envían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5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información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</p:txBody>
      </p:sp>
      <p:sp>
        <p:nvSpPr>
          <p:cNvPr id="5134" name="Rectangle 5133">
            <a:extLst>
              <a:ext uri="{FF2B5EF4-FFF2-40B4-BE49-F238E27FC236}">
                <a16:creationId xmlns:a16="http://schemas.microsoft.com/office/drawing/2014/main" id="{56533F40-045E-4E3D-9243-864CD4E58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43605" y="964692"/>
            <a:ext cx="5440680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36" name="Rectangle 5135">
            <a:extLst>
              <a:ext uri="{FF2B5EF4-FFF2-40B4-BE49-F238E27FC236}">
                <a16:creationId xmlns:a16="http://schemas.microsoft.com/office/drawing/2014/main" id="{30402EC6-D845-41B3-BEBE-CB34D9BFE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0699" y="1128683"/>
            <a:ext cx="5106493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A simplified diagram of the architecture described on this page with the Data layer highlighted.">
            <a:extLst>
              <a:ext uri="{FF2B5EF4-FFF2-40B4-BE49-F238E27FC236}">
                <a16:creationId xmlns:a16="http://schemas.microsoft.com/office/drawing/2014/main" id="{25F478FD-0ACB-7EA3-1CC6-E95B9C06F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72789" y="2817248"/>
            <a:ext cx="4782312" cy="1231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2540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0CBA68-D0D0-7C06-2F60-254B43C8A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60" name="Rectangle 6155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61" name="Rectangle 6157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88CBC63-3C1B-4759-9C55-6784EDF8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3974" cy="1728044"/>
          </a:xfrm>
          <a:noFill/>
          <a:ln>
            <a:solidFill>
              <a:schemeClr val="bg1"/>
            </a:solidFill>
          </a:ln>
        </p:spPr>
        <p:txBody>
          <a:bodyPr vert="horz" wrap="square" lIns="182880" tIns="182880" rIns="182880" bIns="182880" rtlCol="0" anchor="ctr" anchorCtr="1">
            <a:normAutofit/>
          </a:bodyPr>
          <a:lstStyle/>
          <a:p>
            <a:r>
              <a:rPr lang="en-US" b="1">
                <a:solidFill>
                  <a:schemeClr val="bg1"/>
                </a:solidFill>
              </a:rPr>
              <a:t>Flujo de datos entre capas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138CC14-FA3B-8365-2038-AA6008F8668A}"/>
              </a:ext>
            </a:extLst>
          </p:cNvPr>
          <p:cNvSpPr txBox="1"/>
          <p:nvPr/>
        </p:nvSpPr>
        <p:spPr>
          <a:xfrm>
            <a:off x="381316" y="2778679"/>
            <a:ext cx="3888275" cy="34156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342900" indent="-228600" algn="just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El </a:t>
            </a:r>
            <a:r>
              <a:rPr lang="en-US" sz="1600" dirty="0" err="1">
                <a:solidFill>
                  <a:schemeClr val="bg1"/>
                </a:solidFill>
              </a:rPr>
              <a:t>usuario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interactúa</a:t>
            </a:r>
            <a:r>
              <a:rPr lang="en-US" sz="1600" dirty="0">
                <a:solidFill>
                  <a:schemeClr val="bg1"/>
                </a:solidFill>
              </a:rPr>
              <a:t> con la View.</a:t>
            </a:r>
          </a:p>
          <a:p>
            <a:pPr indent="-228600" algn="just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342900" indent="-228600" algn="just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La View llama un </a:t>
            </a:r>
            <a:r>
              <a:rPr lang="en-US" sz="1600" dirty="0" err="1">
                <a:solidFill>
                  <a:schemeClr val="bg1"/>
                </a:solidFill>
              </a:rPr>
              <a:t>comando</a:t>
            </a:r>
            <a:r>
              <a:rPr lang="en-US" sz="1600" dirty="0">
                <a:solidFill>
                  <a:schemeClr val="bg1"/>
                </a:solidFill>
              </a:rPr>
              <a:t> de la </a:t>
            </a:r>
            <a:r>
              <a:rPr lang="en-US" sz="1600" dirty="0" err="1">
                <a:solidFill>
                  <a:schemeClr val="bg1"/>
                </a:solidFill>
              </a:rPr>
              <a:t>ViewModel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 indent="-228600" algn="just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342900" indent="-228600" algn="just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La </a:t>
            </a:r>
            <a:r>
              <a:rPr lang="en-US" sz="1600" dirty="0" err="1">
                <a:solidFill>
                  <a:schemeClr val="bg1"/>
                </a:solidFill>
              </a:rPr>
              <a:t>ViewModel</a:t>
            </a:r>
            <a:r>
              <a:rPr lang="en-US" sz="1600" dirty="0">
                <a:solidFill>
                  <a:schemeClr val="bg1"/>
                </a:solidFill>
              </a:rPr>
              <a:t> consulta </a:t>
            </a:r>
            <a:r>
              <a:rPr lang="en-US" sz="1600" dirty="0" err="1">
                <a:solidFill>
                  <a:schemeClr val="bg1"/>
                </a:solidFill>
              </a:rPr>
              <a:t>datos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en</a:t>
            </a:r>
            <a:r>
              <a:rPr lang="en-US" sz="1600" dirty="0">
                <a:solidFill>
                  <a:schemeClr val="bg1"/>
                </a:solidFill>
              </a:rPr>
              <a:t> uno o </a:t>
            </a:r>
            <a:r>
              <a:rPr lang="en-US" sz="1600" dirty="0" err="1">
                <a:solidFill>
                  <a:schemeClr val="bg1"/>
                </a:solidFill>
              </a:rPr>
              <a:t>varios</a:t>
            </a:r>
            <a:r>
              <a:rPr lang="en-US" sz="1600" dirty="0">
                <a:solidFill>
                  <a:schemeClr val="bg1"/>
                </a:solidFill>
              </a:rPr>
              <a:t> Repositories.</a:t>
            </a:r>
          </a:p>
          <a:p>
            <a:pPr indent="-228600" algn="just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342900" indent="-228600" algn="just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Los Repositories </a:t>
            </a:r>
            <a:r>
              <a:rPr lang="en-US" sz="1600" dirty="0" err="1">
                <a:solidFill>
                  <a:schemeClr val="bg1"/>
                </a:solidFill>
              </a:rPr>
              <a:t>usan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los</a:t>
            </a:r>
            <a:r>
              <a:rPr lang="en-US" sz="1600" dirty="0">
                <a:solidFill>
                  <a:schemeClr val="bg1"/>
                </a:solidFill>
              </a:rPr>
              <a:t> Services para acceder a </a:t>
            </a:r>
            <a:r>
              <a:rPr lang="en-US" sz="1600" dirty="0" err="1">
                <a:solidFill>
                  <a:schemeClr val="bg1"/>
                </a:solidFill>
              </a:rPr>
              <a:t>fuentes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externas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 indent="-228600" algn="just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342900" indent="-228600" algn="just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Los </a:t>
            </a:r>
            <a:r>
              <a:rPr lang="en-US" sz="1600" dirty="0" err="1">
                <a:solidFill>
                  <a:schemeClr val="bg1"/>
                </a:solidFill>
              </a:rPr>
              <a:t>datos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regresan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hacia</a:t>
            </a:r>
            <a:r>
              <a:rPr lang="en-US" sz="1600" dirty="0">
                <a:solidFill>
                  <a:schemeClr val="bg1"/>
                </a:solidFill>
              </a:rPr>
              <a:t> la </a:t>
            </a:r>
            <a:r>
              <a:rPr lang="en-US" sz="1600" dirty="0" err="1">
                <a:solidFill>
                  <a:schemeClr val="bg1"/>
                </a:solidFill>
              </a:rPr>
              <a:t>ViewModel</a:t>
            </a:r>
            <a:r>
              <a:rPr lang="en-US" sz="1600" dirty="0">
                <a:solidFill>
                  <a:schemeClr val="bg1"/>
                </a:solidFill>
              </a:rPr>
              <a:t>, y </a:t>
            </a:r>
            <a:r>
              <a:rPr lang="en-US" sz="1600" dirty="0" err="1">
                <a:solidFill>
                  <a:schemeClr val="bg1"/>
                </a:solidFill>
              </a:rPr>
              <a:t>finalmente</a:t>
            </a:r>
            <a:r>
              <a:rPr lang="en-US" sz="1600" dirty="0">
                <a:solidFill>
                  <a:schemeClr val="bg1"/>
                </a:solidFill>
              </a:rPr>
              <a:t> la View se </a:t>
            </a:r>
            <a:r>
              <a:rPr lang="en-US" sz="1600" dirty="0" err="1">
                <a:solidFill>
                  <a:schemeClr val="bg1"/>
                </a:solidFill>
              </a:rPr>
              <a:t>actualiza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6151" name="Picture 7" descr="An example of the Dart objects that might exist in one feature using the architecture described on page.">
            <a:extLst>
              <a:ext uri="{FF2B5EF4-FFF2-40B4-BE49-F238E27FC236}">
                <a16:creationId xmlns:a16="http://schemas.microsoft.com/office/drawing/2014/main" id="{B1231EC1-4AE6-1176-644E-F4751080C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97763" y="2348444"/>
            <a:ext cx="6250769" cy="2000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4465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8178D5-F73A-40CA-C6EC-F0E2335B5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4476806" cy="1188720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b="1" dirty="0"/>
              <a:t>Capa de Dominio (Domain Layer)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DADEDC6-075B-6055-C0E4-2FDE5C2A3E3F}"/>
              </a:ext>
            </a:extLst>
          </p:cNvPr>
          <p:cNvSpPr txBox="1"/>
          <p:nvPr/>
        </p:nvSpPr>
        <p:spPr>
          <a:xfrm>
            <a:off x="860754" y="2942844"/>
            <a:ext cx="4492932" cy="3263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algn="just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Aquí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aparecen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los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UseCases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que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encapsulan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la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lógica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del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negocio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  <a:p>
            <a:pPr algn="just" defTabSz="914400">
              <a:spcBef>
                <a:spcPts val="1000"/>
              </a:spcBef>
              <a:buClr>
                <a:schemeClr val="accent2"/>
              </a:buClr>
            </a:pP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Por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ejemplo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“registrar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usuario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”, “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enviar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notificación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”, “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descargar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reporte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”.</a:t>
            </a:r>
          </a:p>
        </p:txBody>
      </p:sp>
      <p:sp>
        <p:nvSpPr>
          <p:cNvPr id="7175" name="Rectangle 7174">
            <a:extLst>
              <a:ext uri="{FF2B5EF4-FFF2-40B4-BE49-F238E27FC236}">
                <a16:creationId xmlns:a16="http://schemas.microsoft.com/office/drawing/2014/main" id="{56533F40-045E-4E3D-9243-864CD4E58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43605" y="964692"/>
            <a:ext cx="5440680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77" name="Rectangle 7176">
            <a:extLst>
              <a:ext uri="{FF2B5EF4-FFF2-40B4-BE49-F238E27FC236}">
                <a16:creationId xmlns:a16="http://schemas.microsoft.com/office/drawing/2014/main" id="{30402EC6-D845-41B3-BEBE-CB34D9BFE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0699" y="1128683"/>
            <a:ext cx="5106493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 descr="MVVM design pattern with an added domain layer object">
            <a:extLst>
              <a:ext uri="{FF2B5EF4-FFF2-40B4-BE49-F238E27FC236}">
                <a16:creationId xmlns:a16="http://schemas.microsoft.com/office/drawing/2014/main" id="{058BBDDC-D47E-2A75-AAF4-47FD6A4C7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72789" y="3080275"/>
            <a:ext cx="4782312" cy="705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204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AD7C5BE-418C-4A44-91BF-28E411F75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120" y="1559052"/>
            <a:ext cx="10271760" cy="4347972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09F258-88FA-690B-7A67-6AD32E73C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ln>
            <a:solidFill>
              <a:srgbClr val="404040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b="1" dirty="0" err="1"/>
              <a:t>Ventajas</a:t>
            </a:r>
            <a:r>
              <a:rPr lang="en-US" b="1" dirty="0"/>
              <a:t> y </a:t>
            </a:r>
            <a:r>
              <a:rPr lang="en-US" b="1" dirty="0" err="1"/>
              <a:t>desventajas</a:t>
            </a:r>
            <a:r>
              <a:rPr lang="en-US" b="1" dirty="0"/>
              <a:t> de </a:t>
            </a:r>
            <a:r>
              <a:rPr lang="en-US" b="1" dirty="0" err="1"/>
              <a:t>los</a:t>
            </a:r>
            <a:r>
              <a:rPr lang="en-US" b="1" dirty="0"/>
              <a:t> </a:t>
            </a:r>
            <a:r>
              <a:rPr lang="en-US" b="1" dirty="0" err="1"/>
              <a:t>usecases</a:t>
            </a:r>
            <a:endParaRPr lang="en-US" b="1" dirty="0"/>
          </a:p>
        </p:txBody>
      </p:sp>
      <p:pic>
        <p:nvPicPr>
          <p:cNvPr id="5" name="Imagen 4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37AE0A61-D2E5-2878-B693-DCF85E3E2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752" y="2678866"/>
            <a:ext cx="9314170" cy="253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684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0" name="Rectangle 8199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2" name="Rectangle 8201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3052B4-372E-AA42-256D-9718332F2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3974" cy="1728044"/>
          </a:xfrm>
          <a:noFill/>
          <a:ln>
            <a:solidFill>
              <a:schemeClr val="bg1"/>
            </a:solidFill>
          </a:ln>
        </p:spPr>
        <p:txBody>
          <a:bodyPr vert="horz" wrap="square" lIns="182880" tIns="182880" rIns="182880" bIns="182880" rtlCol="0" anchor="ctr">
            <a:normAutofit/>
          </a:bodyPr>
          <a:lstStyle/>
          <a:p>
            <a:r>
              <a:rPr lang="en-US" sz="2400" b="1">
                <a:solidFill>
                  <a:schemeClr val="bg1"/>
                </a:solidFill>
              </a:rPr>
              <a:t>Estructura completa con Domain layer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D2D2025-0084-1C0E-3DA6-DA1823720A90}"/>
              </a:ext>
            </a:extLst>
          </p:cNvPr>
          <p:cNvSpPr txBox="1"/>
          <p:nvPr/>
        </p:nvSpPr>
        <p:spPr>
          <a:xfrm>
            <a:off x="643467" y="3014978"/>
            <a:ext cx="3363974" cy="3415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algn="just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La UI layer </a:t>
            </a:r>
            <a:r>
              <a:rPr lang="en-US" dirty="0" err="1">
                <a:solidFill>
                  <a:schemeClr val="bg1"/>
                </a:solidFill>
              </a:rPr>
              <a:t>muestra</a:t>
            </a:r>
            <a:r>
              <a:rPr lang="en-US" dirty="0">
                <a:solidFill>
                  <a:schemeClr val="bg1"/>
                </a:solidFill>
              </a:rPr>
              <a:t> y </a:t>
            </a:r>
            <a:r>
              <a:rPr lang="en-US" dirty="0" err="1">
                <a:solidFill>
                  <a:schemeClr val="bg1"/>
                </a:solidFill>
              </a:rPr>
              <a:t>gestiona</a:t>
            </a:r>
            <a:r>
              <a:rPr lang="en-US" dirty="0">
                <a:solidFill>
                  <a:schemeClr val="bg1"/>
                </a:solidFill>
              </a:rPr>
              <a:t> la </a:t>
            </a:r>
            <a:r>
              <a:rPr lang="en-US" dirty="0" err="1">
                <a:solidFill>
                  <a:schemeClr val="bg1"/>
                </a:solidFill>
              </a:rPr>
              <a:t>interfaz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indent="-228600" algn="just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La Domain layer </a:t>
            </a:r>
            <a:r>
              <a:rPr lang="en-US" dirty="0" err="1">
                <a:solidFill>
                  <a:schemeClr val="bg1"/>
                </a:solidFill>
              </a:rPr>
              <a:t>contiene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los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UseCases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 indent="-228600" algn="just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La Data layer </a:t>
            </a:r>
            <a:r>
              <a:rPr lang="en-US" dirty="0" err="1">
                <a:solidFill>
                  <a:schemeClr val="bg1"/>
                </a:solidFill>
              </a:rPr>
              <a:t>maneja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los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datos</a:t>
            </a:r>
            <a:r>
              <a:rPr lang="en-US" dirty="0">
                <a:solidFill>
                  <a:schemeClr val="bg1"/>
                </a:solidFill>
              </a:rPr>
              <a:t> y la </a:t>
            </a:r>
            <a:r>
              <a:rPr lang="en-US" dirty="0" err="1">
                <a:solidFill>
                  <a:schemeClr val="bg1"/>
                </a:solidFill>
              </a:rPr>
              <a:t>conexión</a:t>
            </a:r>
            <a:r>
              <a:rPr lang="en-US" dirty="0">
                <a:solidFill>
                  <a:schemeClr val="bg1"/>
                </a:solidFill>
              </a:rPr>
              <a:t> con APIs.</a:t>
            </a:r>
          </a:p>
        </p:txBody>
      </p:sp>
      <p:pic>
        <p:nvPicPr>
          <p:cNvPr id="8195" name="Picture 3" descr="Un diagrama simplificado de la arquitectura descrita en esta página con un objeto de caso de uso.">
            <a:extLst>
              <a:ext uri="{FF2B5EF4-FFF2-40B4-BE49-F238E27FC236}">
                <a16:creationId xmlns:a16="http://schemas.microsoft.com/office/drawing/2014/main" id="{A1C6316A-F963-7E71-3FF5-024F818FF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97763" y="2692236"/>
            <a:ext cx="6250769" cy="1312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6955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A22066-4694-0892-DCA6-D9A74BBCE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conclusión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D2616A7-CAFB-F9CD-32FA-EF11A75E0DC2}"/>
              </a:ext>
            </a:extLst>
          </p:cNvPr>
          <p:cNvSpPr txBox="1"/>
          <p:nvPr/>
        </p:nvSpPr>
        <p:spPr>
          <a:xfrm>
            <a:off x="1222076" y="2856645"/>
            <a:ext cx="97478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ES" dirty="0"/>
              <a:t>La guía de arquitectura de </a:t>
            </a:r>
            <a:r>
              <a:rPr lang="es-ES" dirty="0" err="1"/>
              <a:t>Flutter</a:t>
            </a:r>
            <a:r>
              <a:rPr lang="es-ES" dirty="0"/>
              <a:t> se basa en MVVM y busca lograr claridad, escalabilidad y facilidad de mantenimiento.</a:t>
            </a:r>
          </a:p>
          <a:p>
            <a:pPr algn="just">
              <a:buNone/>
            </a:pPr>
            <a:endParaRPr lang="es-E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ES" dirty="0"/>
              <a:t>La </a:t>
            </a:r>
            <a:r>
              <a:rPr lang="es-ES" b="1" dirty="0"/>
              <a:t>UI </a:t>
            </a:r>
            <a:r>
              <a:rPr lang="es-ES" b="1" dirty="0" err="1"/>
              <a:t>layer</a:t>
            </a:r>
            <a:r>
              <a:rPr lang="es-ES" dirty="0"/>
              <a:t> se encarga de la interacción con el usuario.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dirty="0"/>
              <a:t>La </a:t>
            </a:r>
            <a:r>
              <a:rPr lang="es-ES" b="1" dirty="0"/>
              <a:t>Data </a:t>
            </a:r>
            <a:r>
              <a:rPr lang="es-ES" b="1" dirty="0" err="1"/>
              <a:t>layer</a:t>
            </a:r>
            <a:r>
              <a:rPr lang="es-ES" dirty="0"/>
              <a:t> gestiona la información y la lógica.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dirty="0"/>
              <a:t>Y la </a:t>
            </a:r>
            <a:r>
              <a:rPr lang="es-ES" b="1" dirty="0" err="1"/>
              <a:t>Domain</a:t>
            </a:r>
            <a:r>
              <a:rPr lang="es-ES" b="1" dirty="0"/>
              <a:t> </a:t>
            </a:r>
            <a:r>
              <a:rPr lang="es-ES" b="1" dirty="0" err="1"/>
              <a:t>layer</a:t>
            </a:r>
            <a:r>
              <a:rPr lang="es-ES" dirty="0"/>
              <a:t>, cuando existe, encapsula procesos más complejos.</a:t>
            </a:r>
          </a:p>
          <a:p>
            <a:pPr algn="just"/>
            <a:endParaRPr lang="es-ES" dirty="0"/>
          </a:p>
          <a:p>
            <a:pPr algn="just">
              <a:buNone/>
            </a:pPr>
            <a:r>
              <a:rPr lang="es-ES" dirty="0"/>
              <a:t>Seguir esta arquitectura hace que los proyectos sean más ordenados, reutilizables y fáciles de probar.</a:t>
            </a:r>
          </a:p>
        </p:txBody>
      </p:sp>
    </p:spTree>
    <p:extLst>
      <p:ext uri="{BB962C8B-B14F-4D97-AF65-F5344CB8AC3E}">
        <p14:creationId xmlns:p14="http://schemas.microsoft.com/office/powerpoint/2010/main" val="745686170"/>
      </p:ext>
    </p:extLst>
  </p:cSld>
  <p:clrMapOvr>
    <a:masterClrMapping/>
  </p:clrMapOvr>
</p:sld>
</file>

<file path=ppt/theme/theme1.xml><?xml version="1.0" encoding="utf-8"?>
<a:theme xmlns:a="http://schemas.openxmlformats.org/drawingml/2006/main" name="Paquete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TM10001115[[fn=Paquete]]</Template>
  <TotalTime>83</TotalTime>
  <Words>453</Words>
  <Application>Microsoft Office PowerPoint</Application>
  <PresentationFormat>Panorámica</PresentationFormat>
  <Paragraphs>58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Gill Sans MT</vt:lpstr>
      <vt:lpstr>Paquete</vt:lpstr>
      <vt:lpstr>Guía de Arquitectura de Aplicaciones en Flutter</vt:lpstr>
      <vt:lpstr>ARQUITECTURA DE UNA APP</vt:lpstr>
      <vt:lpstr>ESTRUCTURA GENERAL DEL PROYECTO</vt:lpstr>
      <vt:lpstr>EL PATRÓN MVVM</vt:lpstr>
      <vt:lpstr>Capa de interfaz (ui layer)</vt:lpstr>
      <vt:lpstr>Capa de datos (data layer)</vt:lpstr>
      <vt:lpstr>Flujo de datos entre capas</vt:lpstr>
      <vt:lpstr>Capa de Dominio (Domain Layer)</vt:lpstr>
      <vt:lpstr>Ventajas y desventajas de los usecases</vt:lpstr>
      <vt:lpstr>Estructura completa con Domain layer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Justine Barreto</dc:creator>
  <cp:lastModifiedBy>Justine Barreto</cp:lastModifiedBy>
  <cp:revision>2</cp:revision>
  <dcterms:created xsi:type="dcterms:W3CDTF">2025-11-11T02:29:01Z</dcterms:created>
  <dcterms:modified xsi:type="dcterms:W3CDTF">2025-11-11T22:39:50Z</dcterms:modified>
</cp:coreProperties>
</file>